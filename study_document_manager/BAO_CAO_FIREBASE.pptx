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ter"/>
      <p:bold r:id="rId17"/>
    </p:embeddedFont>
    <p:embeddedFont>
      <p:font typeface="Fira Code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59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558182"/>
            <a:ext cx="609600" cy="38100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762000"/>
            <a:ext cx="6858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CA28"/>
                </a:solidFill>
                <a:latin typeface="Inter"/>
              </a:rPr>
              <a:t>BÁO CÁO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81100"/>
            <a:ext cx="5860732" cy="1919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sz="4200" b="1" i="0" u="none">
                <a:solidFill>
                  <a:srgbClr val="F8FAFC"/>
                </a:solidFill>
                <a:latin typeface="Inter"/>
              </a:rPr>
              <a:t>Tích hợp Firebase vào ứng dụng Quản lý tài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24882"/>
            <a:ext cx="4857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Giải pháp đăng nhập Google và lưu trữ tài liệu đám mây cho ứng dụng Flutter đa nền tảng.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705350"/>
            <a:ext cx="194123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F8FAFC"/>
                </a:solidFill>
                <a:latin typeface="Inter"/>
              </a:rPr>
              <a:t>Nhóm</a:t>
            </a:r>
            <a:r>
              <a:rPr sz="1350" b="1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lang="vi-VN" sz="1350" b="1" i="0" u="none" dirty="0" smtClean="0">
                <a:solidFill>
                  <a:srgbClr val="F8FAFC"/>
                </a:solidFill>
                <a:latin typeface="Inter"/>
              </a:rPr>
              <a:t>12</a:t>
            </a:r>
            <a:r>
              <a:rPr sz="1350" b="1" i="0" u="none" dirty="0" smtClean="0">
                <a:solidFill>
                  <a:srgbClr val="F8FAFC"/>
                </a:solidFill>
                <a:latin typeface="Inter"/>
              </a:rPr>
              <a:t> </a:t>
            </a:r>
            <a:r>
              <a:rPr sz="1350" b="1" i="0" u="none" dirty="0">
                <a:solidFill>
                  <a:srgbClr val="F8FAFC"/>
                </a:solidFill>
                <a:latin typeface="Inter"/>
              </a:rPr>
              <a:t>| </a:t>
            </a:r>
            <a:r>
              <a:rPr sz="1350" b="1" i="0" u="none" dirty="0" err="1">
                <a:solidFill>
                  <a:srgbClr val="F8FAFC"/>
                </a:solidFill>
                <a:latin typeface="Inter"/>
              </a:rPr>
              <a:t>Lớp</a:t>
            </a:r>
            <a:r>
              <a:rPr sz="1350" b="1" i="0" u="none" dirty="0">
                <a:solidFill>
                  <a:srgbClr val="F8FAFC"/>
                </a:solidFill>
                <a:latin typeface="Inter"/>
              </a:rPr>
              <a:t> 65KTPM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037401"/>
            <a:ext cx="1440651" cy="923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vi-VN" sz="1200" dirty="0" smtClean="0">
                <a:solidFill>
                  <a:srgbClr val="CBD5E1"/>
                </a:solidFill>
                <a:latin typeface="Inter"/>
              </a:rPr>
              <a:t>Thành viên :</a:t>
            </a:r>
          </a:p>
          <a:p>
            <a:pPr algn="l"/>
            <a:r>
              <a:rPr lang="vi-VN" sz="1200" dirty="0" smtClean="0">
                <a:solidFill>
                  <a:srgbClr val="CBD5E1"/>
                </a:solidFill>
                <a:latin typeface="Inter"/>
              </a:rPr>
              <a:t>Nguyễn Văn Trường</a:t>
            </a:r>
          </a:p>
          <a:p>
            <a:pPr algn="l"/>
            <a:r>
              <a:rPr lang="vi-VN" sz="1200" b="0" i="0" u="none" dirty="0" smtClean="0">
                <a:solidFill>
                  <a:srgbClr val="CBD5E1"/>
                </a:solidFill>
                <a:latin typeface="Inter"/>
              </a:rPr>
              <a:t>Lý Đình Sơn</a:t>
            </a:r>
          </a:p>
          <a:p>
            <a:pPr algn="l"/>
            <a:r>
              <a:rPr lang="vi-VN" sz="1200" dirty="0" smtClean="0">
                <a:solidFill>
                  <a:srgbClr val="CBD5E1"/>
                </a:solidFill>
                <a:latin typeface="Inter"/>
              </a:rPr>
              <a:t>Vũ Tuấn Khanh</a:t>
            </a:r>
            <a:br>
              <a:rPr lang="vi-VN" sz="1200" dirty="0" smtClean="0">
                <a:solidFill>
                  <a:srgbClr val="CBD5E1"/>
                </a:solidFill>
                <a:latin typeface="Inter"/>
              </a:rPr>
            </a:br>
            <a:r>
              <a:rPr lang="vi-VN" sz="1200" dirty="0" smtClean="0">
                <a:solidFill>
                  <a:srgbClr val="CBD5E1"/>
                </a:solidFill>
                <a:latin typeface="Inter"/>
              </a:rPr>
              <a:t>Vũ Hải Đăng</a:t>
            </a:r>
            <a:endParaRPr sz="1200" b="0" i="0" u="none" dirty="0">
              <a:solidFill>
                <a:srgbClr val="CBD5E1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14525"/>
            <a:ext cx="2514600" cy="2447925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29000" y="1914525"/>
            <a:ext cx="2514600" cy="2447925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1914525"/>
            <a:ext cx="2514600" cy="2447925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67800" y="1914525"/>
            <a:ext cx="2514600" cy="2447925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19325"/>
            <a:ext cx="2286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2219325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2219325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2219325"/>
            <a:ext cx="2667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Firebase là gì? Vai trò trong DMS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228725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Nền tảng phát triển ứng dụng của Google cung cấp dịch vụ backend toàn diện.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52725"/>
            <a:ext cx="250031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Flutter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81350"/>
            <a:ext cx="2000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Inter"/>
              </a:rPr>
              <a:t>Nhiệm vụ: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Giao diện và nghiệp vụ.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2000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Inter"/>
              </a:rPr>
              <a:t>Nơi chạy: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Android, iOS, Web.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3800" y="2752725"/>
            <a:ext cx="250031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Firebase 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3800" y="3181350"/>
            <a:ext cx="2000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Inter"/>
              </a:rPr>
              <a:t>Nhiệm vụ: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Google Sign-In và UID.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3800" y="3657600"/>
            <a:ext cx="2000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Inter"/>
              </a:rPr>
              <a:t>Nơi chạy: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Firebase Project.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2752725"/>
            <a:ext cx="250031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Cloud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3181350"/>
            <a:ext cx="2000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Inter"/>
              </a:rPr>
              <a:t>Nhiệm vụ: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Lưu trữ tệp đính kèm.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3657600"/>
            <a:ext cx="2000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Inter"/>
              </a:rPr>
              <a:t>Nơi chạy: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Google Cloud Storage.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752725"/>
            <a:ext cx="250031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181350"/>
            <a:ext cx="2000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Inter"/>
              </a:rPr>
              <a:t>Nhiệm vụ: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Metadata tài liệu.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657600"/>
            <a:ext cx="2000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Inter"/>
              </a:rPr>
              <a:t>Nơi chạy: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Cục bộ thiết bị.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003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9567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1910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8863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177" y="0"/>
            <a:ext cx="6831823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504950"/>
            <a:ext cx="52206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Kiến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trúc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tích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hợp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dirty="0"/>
              <a:t>
</a:t>
            </a:r>
            <a:r>
              <a:rPr sz="3000" b="1" i="0" u="none" dirty="0" err="1" smtClean="0">
                <a:solidFill>
                  <a:srgbClr val="0F172A"/>
                </a:solidFill>
                <a:latin typeface="Inter"/>
              </a:rPr>
              <a:t>và</a:t>
            </a:r>
            <a:r>
              <a:rPr sz="3000" b="1" i="0" u="none" dirty="0" smtClean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Luồng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dữ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liệu</a:t>
            </a:r>
            <a:endParaRPr sz="30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6725" y="280035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349567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4191000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25" y="488632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2800350"/>
            <a:ext cx="478809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Đăng nhập Google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067050"/>
            <a:ext cx="4560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Firebase Auth xác minh và cấp Firebase UID.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3495675"/>
            <a:ext cx="492561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Tải lên trực tiếp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3762375"/>
            <a:ext cx="4691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Gửi tệp từ Flutter lên Cloud qua Firebase SDK.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4191000"/>
            <a:ext cx="447555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Kiểm soát bảo mật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4457700"/>
            <a:ext cx="4262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Security Rules kiểm tra UID và kích thước.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4886325"/>
            <a:ext cx="413801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Lưu trữ cục bộ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800" y="5153025"/>
            <a:ext cx="39409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Lưu tham chiếu tệp vào SQLite thiết bị.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177" y="2134726"/>
            <a:ext cx="6831823" cy="47221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09600"/>
            <a:ext cx="4876800" cy="5638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2543175"/>
            <a:ext cx="25717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3400425"/>
            <a:ext cx="25717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00" y="4057650"/>
            <a:ext cx="25717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5600" y="4714875"/>
            <a:ext cx="2857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05600" y="1743075"/>
            <a:ext cx="5486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Cấu hình Nền tảng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5175" y="2514600"/>
            <a:ext cx="41630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Định danh Dự 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5175" y="2743200"/>
            <a:ext cx="3964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Tên hiển thị: document-manager.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5175" y="2943225"/>
            <a:ext cx="3964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Project ID: document-manager-e4289.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5175" y="3371850"/>
            <a:ext cx="497562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Nền tảng hỗ trợ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5175" y="3600450"/>
            <a:ext cx="4738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Đã cấu hình FlutterFire cho Android, iOS, Web.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5175" y="4029075"/>
            <a:ext cx="397549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Dịch vụ kích hoạt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5175" y="4257675"/>
            <a:ext cx="3786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Bật Google Sign-in và Cloud Storage.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50" y="4686300"/>
            <a:ext cx="5048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Phân quyền nhóm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3750" y="4914900"/>
            <a:ext cx="4881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Mời thành viên qua IAM bằng tài khoản cá nhân.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705600" y="1676400"/>
            <a:ext cx="4876800" cy="3505200"/>
          </a:xfrm>
          <a:prstGeom prst="roundRect">
            <a:avLst>
              <a:gd name="adj" fmla="val 217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1928961"/>
            <a:ext cx="64008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Setup FlutterFire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24286"/>
            <a:ext cx="4667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Quy trình chuẩn hóa môi trường và tích hợp SDK trực tiếp vào dự án Flutter.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3388191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386286"/>
            <a:ext cx="5810250" cy="30852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Cài đặt: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Công cụ CLI của Firebase và FlutterFire.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3696712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694807"/>
            <a:ext cx="5810250" cy="30852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Đăng nhập: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Sử dụng tài khoản nhóm qua terminal.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4005232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003327"/>
            <a:ext cx="5810250" cy="30852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Cấu hình: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Ánh xạ Project ID cho 3 nền tảng.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4313753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311848"/>
            <a:ext cx="5810250" cy="30852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Thư viện: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Thêm Core, Auth, Storage vào dependencies.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4622274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620369"/>
            <a:ext cx="5810250" cy="30852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Khởi tạo: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Gọi Firebase trước khi chạy ứng dụng.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4200" y="1905000"/>
            <a:ext cx="5257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Fira Code"/>
              </a:rPr>
              <a:t>// 1. Cài đặt công cụ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0" y="2209800"/>
            <a:ext cx="5257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E2E8F0"/>
                </a:solidFill>
                <a:latin typeface="Fira Code"/>
              </a:rPr>
              <a:t>npm install -g firebase-tools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4200" y="2438400"/>
            <a:ext cx="5257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E2E8F0"/>
                </a:solidFill>
                <a:latin typeface="Fira Code"/>
              </a:rPr>
              <a:t>dart pub global activate flutterfire_cli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2819400"/>
            <a:ext cx="5257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Fira Code"/>
              </a:rPr>
              <a:t>// 2. Cấu hình dự án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4200" y="3124200"/>
            <a:ext cx="5257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E2E8F0"/>
                </a:solidFill>
                <a:latin typeface="Fira Code"/>
              </a:rPr>
              <a:t>firebase login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3352800"/>
            <a:ext cx="4514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E2E8F0"/>
                </a:solidFill>
                <a:latin typeface="Fira Code"/>
              </a:rPr>
              <a:t>flutterfire configure --project=document-manager-e4289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4200" y="3962400"/>
            <a:ext cx="5257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Fira Code"/>
              </a:rPr>
              <a:t>// 3. Khởi tạo trong ứng dụng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4200" y="4267200"/>
            <a:ext cx="5257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678DD"/>
                </a:solidFill>
                <a:latin typeface="Fira Code"/>
              </a:rPr>
              <a:t>await</a:t>
            </a:r>
            <a:r>
              <a:rPr sz="1125" b="0" i="0" u="none">
                <a:solidFill>
                  <a:srgbClr val="E2E8F0"/>
                </a:solidFill>
                <a:latin typeface="Fira Code"/>
              </a:rPr>
              <a:t> </a:t>
            </a:r>
            <a:r>
              <a:rPr sz="1125" b="0" i="0" u="none">
                <a:solidFill>
                  <a:srgbClr val="61AFEF"/>
                </a:solidFill>
                <a:latin typeface="Fira Code"/>
              </a:rPr>
              <a:t>Firebase</a:t>
            </a:r>
            <a:r>
              <a:rPr sz="1125" b="0" i="0" u="none">
                <a:solidFill>
                  <a:srgbClr val="E2E8F0"/>
                </a:solidFill>
                <a:latin typeface="Fira Code"/>
              </a:rPr>
              <a:t>.</a:t>
            </a:r>
            <a:r>
              <a:rPr sz="1125" b="0" i="0" u="none">
                <a:solidFill>
                  <a:srgbClr val="56B6C2"/>
                </a:solidFill>
                <a:latin typeface="Fira Code"/>
              </a:rPr>
              <a:t>initializeApp</a:t>
            </a:r>
            <a:r>
              <a:rPr sz="1125" b="0" i="0" u="none">
                <a:solidFill>
                  <a:srgbClr val="E2E8F0"/>
                </a:solidFill>
                <a:latin typeface="Fira Code"/>
              </a:rPr>
              <a:t>(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4200" y="4495800"/>
            <a:ext cx="5257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E2E8F0"/>
                </a:solidFill>
                <a:latin typeface="Fira Code"/>
              </a:rPr>
              <a:t>options: DefaultFirebaseOptions.currentPlatform,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4200" y="4724400"/>
            <a:ext cx="5257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E2E8F0"/>
                </a:solidFill>
                <a:latin typeface="Fira Code"/>
              </a:rPr>
              <a:t>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324600" y="1905000"/>
            <a:ext cx="52578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3048000"/>
            <a:ext cx="52578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24600" y="4191000"/>
            <a:ext cx="52578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33525"/>
            <a:ext cx="5257800" cy="3943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1336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32766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441960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6075" y="2247900"/>
            <a:ext cx="1714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0" y="3390900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0" y="453390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-381000" y="609600"/>
            <a:ext cx="12954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Inter"/>
              </a:rPr>
              <a:t>Đăng nhập Google và Tài khoản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900" y="2133600"/>
            <a:ext cx="447555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Firebase UID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900" y="2400300"/>
            <a:ext cx="42624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Định danh duy nhất, kiểm tra quyền sở hữu tệp.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900" y="3276600"/>
            <a:ext cx="37004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Email Liên Hệ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900" y="3543300"/>
            <a:ext cx="3524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Hiển thị thông tin tài khoản và đối soát.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900" y="4419600"/>
            <a:ext cx="351293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Avatar &amp; Tên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900" y="4686300"/>
            <a:ext cx="33456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Hiển thị trực quan trên trang cá nhân.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538364"/>
            <a:ext cx="4876800" cy="923925"/>
          </a:xfrm>
          <a:prstGeom prst="roundRect">
            <a:avLst>
              <a:gd name="adj" fmla="val 123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538364"/>
            <a:ext cx="38100" cy="923925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609600"/>
            <a:ext cx="4876800" cy="563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395561"/>
            <a:ext cx="52206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Tải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Tệp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và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dirty="0"/>
              <a:t>
</a:t>
            </a:r>
            <a:r>
              <a:rPr sz="3000" b="1" i="0" u="none" dirty="0" smtClean="0">
                <a:solidFill>
                  <a:srgbClr val="0F172A"/>
                </a:solidFill>
                <a:latin typeface="Inter"/>
              </a:rPr>
              <a:t>Theo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Dõi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Tiến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Trình</a:t>
            </a:r>
            <a:endParaRPr sz="30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2950" y="2616666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614761"/>
            <a:ext cx="5810250" cy="30852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 dirty="0" err="1">
                <a:solidFill>
                  <a:srgbClr val="475569"/>
                </a:solidFill>
                <a:latin typeface="Inter"/>
              </a:rPr>
              <a:t>Đường</a:t>
            </a:r>
            <a:r>
              <a:rPr sz="1350" b="1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1" i="0" u="none" dirty="0" err="1">
                <a:solidFill>
                  <a:srgbClr val="475569"/>
                </a:solidFill>
                <a:latin typeface="Inter"/>
              </a:rPr>
              <a:t>dẫn</a:t>
            </a:r>
            <a:r>
              <a:rPr sz="1350" b="1" i="0" u="none" dirty="0">
                <a:solidFill>
                  <a:srgbClr val="475569"/>
                </a:solidFill>
                <a:latin typeface="Inter"/>
              </a:rPr>
              <a:t>: users/{</a:t>
            </a:r>
            <a:r>
              <a:rPr sz="1350" b="1" i="0" u="none" dirty="0" err="1">
                <a:solidFill>
                  <a:srgbClr val="475569"/>
                </a:solidFill>
                <a:latin typeface="Inter"/>
              </a:rPr>
              <a:t>uid</a:t>
            </a:r>
            <a:r>
              <a:rPr sz="1350" b="1" i="0" u="none" dirty="0">
                <a:solidFill>
                  <a:srgbClr val="475569"/>
                </a:solidFill>
                <a:latin typeface="Inter"/>
              </a:rPr>
              <a:t>}/documents/...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2925187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923282"/>
            <a:ext cx="5810250" cy="30852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 dirty="0" err="1">
                <a:solidFill>
                  <a:srgbClr val="475569"/>
                </a:solidFill>
                <a:latin typeface="Inter"/>
              </a:rPr>
              <a:t>Trực</a:t>
            </a:r>
            <a:r>
              <a:rPr sz="1350" b="1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1" i="0" u="none" dirty="0" err="1">
                <a:solidFill>
                  <a:srgbClr val="475569"/>
                </a:solidFill>
                <a:latin typeface="Inter"/>
              </a:rPr>
              <a:t>tiếp</a:t>
            </a:r>
            <a:r>
              <a:rPr sz="1350" b="1" i="0" u="none" dirty="0">
                <a:solidFill>
                  <a:srgbClr val="475569"/>
                </a:solidFill>
                <a:latin typeface="Inter"/>
              </a:rPr>
              <a:t>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Tải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thẳng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từ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Client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lên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Cloud.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3233707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231802"/>
            <a:ext cx="5810250" cy="30852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Hỗ trợ: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PDF, DOCX, PPTX, JPG/PNG, TXT.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3542228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540323"/>
            <a:ext cx="5810250" cy="30852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Giới hạn: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Tối đa 25MB cho mỗi tệp.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3850749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848844"/>
            <a:ext cx="5810250" cy="30852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 dirty="0" err="1">
                <a:solidFill>
                  <a:srgbClr val="475569"/>
                </a:solidFill>
                <a:latin typeface="Inter"/>
              </a:rPr>
              <a:t>Kết</a:t>
            </a:r>
            <a:r>
              <a:rPr sz="1350" b="1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1" i="0" u="none" dirty="0" err="1">
                <a:solidFill>
                  <a:srgbClr val="475569"/>
                </a:solidFill>
                <a:latin typeface="Inter"/>
              </a:rPr>
              <a:t>quả</a:t>
            </a:r>
            <a:r>
              <a:rPr sz="1350" b="1" i="0" u="none" dirty="0">
                <a:solidFill>
                  <a:srgbClr val="475569"/>
                </a:solidFill>
                <a:latin typeface="Inter"/>
              </a:rPr>
              <a:t>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Lưu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tham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chiếu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Storage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sau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khi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tải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xong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766964"/>
            <a:ext cx="57507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Cơ chế tiến trình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5043189"/>
            <a:ext cx="5476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Tính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toán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dựa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trên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bytesTransferred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so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với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totalBytes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132236"/>
            <a:ext cx="4876800" cy="2879377"/>
          </a:xfrm>
          <a:prstGeom prst="roundRect">
            <a:avLst>
              <a:gd name="adj" fmla="val 264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46236"/>
            <a:ext cx="4876800" cy="190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05600" y="1280517"/>
            <a:ext cx="52206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Bảo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mật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Dữ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liệu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dirty="0"/>
              <a:t>
</a:t>
            </a:r>
            <a:r>
              <a:rPr sz="3000" b="1" i="0" u="none" dirty="0" smtClean="0">
                <a:solidFill>
                  <a:srgbClr val="0F172A"/>
                </a:solidFill>
                <a:latin typeface="Inter"/>
              </a:rPr>
              <a:t>Security 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360836"/>
            <a:ext cx="55245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Fira Code"/>
              </a:rPr>
              <a:t>// Khớp thư mục tài liệu của người dùng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650307"/>
            <a:ext cx="55245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C678DD"/>
                </a:solidFill>
                <a:latin typeface="Fira Code"/>
              </a:rPr>
              <a:t>match</a:t>
            </a:r>
            <a:r>
              <a:rPr sz="1050" b="0" i="0" u="none">
                <a:solidFill>
                  <a:srgbClr val="E2E8F0"/>
                </a:solidFill>
                <a:latin typeface="Fira Code"/>
              </a:rPr>
              <a:t> /users/{userId}/documents/{docId}/{fileName}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863578"/>
            <a:ext cx="53721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Fira Code"/>
              </a:rPr>
              <a:t>// Chỉ chủ sở hữu mới được đọc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4076848"/>
            <a:ext cx="53721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C678DD"/>
                </a:solidFill>
                <a:latin typeface="Fira Code"/>
              </a:rPr>
              <a:t>allow</a:t>
            </a:r>
            <a:r>
              <a:rPr sz="1050" b="0" i="0" u="none">
                <a:solidFill>
                  <a:srgbClr val="E2E8F0"/>
                </a:solidFill>
                <a:latin typeface="Fira Code"/>
              </a:rPr>
              <a:t> read: </a:t>
            </a:r>
            <a:r>
              <a:rPr sz="1050" b="0" i="0" u="none">
                <a:solidFill>
                  <a:srgbClr val="C678DD"/>
                </a:solidFill>
                <a:latin typeface="Fira Code"/>
              </a:rPr>
              <a:t>if</a:t>
            </a:r>
            <a:r>
              <a:rPr sz="1050" b="0" i="0" u="none">
                <a:solidFill>
                  <a:srgbClr val="E2E8F0"/>
                </a:solidFill>
                <a:latin typeface="Fira Code"/>
              </a:rPr>
              <a:t> request.auth != </a:t>
            </a:r>
            <a:r>
              <a:rPr sz="1050" b="0" i="0" u="none">
                <a:solidFill>
                  <a:srgbClr val="D19A66"/>
                </a:solidFill>
                <a:latin typeface="Fira Code"/>
              </a:rPr>
              <a:t>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290119"/>
            <a:ext cx="52197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E2E8F0"/>
                </a:solidFill>
                <a:latin typeface="Fira Code"/>
              </a:rPr>
              <a:t>&amp;&amp; request.auth.uid == userId;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4716660"/>
            <a:ext cx="53721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Fira Code"/>
              </a:rPr>
              <a:t>// Giới hạn 25MB khi tải lên/cập nhật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929931"/>
            <a:ext cx="53721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C678DD"/>
                </a:solidFill>
                <a:latin typeface="Fira Code"/>
              </a:rPr>
              <a:t>allow</a:t>
            </a:r>
            <a:r>
              <a:rPr sz="1050" b="0" i="0" u="none">
                <a:solidFill>
                  <a:srgbClr val="E2E8F0"/>
                </a:solidFill>
                <a:latin typeface="Fira Code"/>
              </a:rPr>
              <a:t> create, update: </a:t>
            </a:r>
            <a:r>
              <a:rPr sz="1050" b="0" i="0" u="none">
                <a:solidFill>
                  <a:srgbClr val="C678DD"/>
                </a:solidFill>
                <a:latin typeface="Fira Code"/>
              </a:rPr>
              <a:t>if</a:t>
            </a:r>
            <a:r>
              <a:rPr sz="1050" b="0" i="0" u="none">
                <a:solidFill>
                  <a:srgbClr val="E2E8F0"/>
                </a:solidFill>
                <a:latin typeface="Fira Code"/>
              </a:rPr>
              <a:t> request.auth != </a:t>
            </a:r>
            <a:r>
              <a:rPr sz="1050" b="0" i="0" u="none">
                <a:solidFill>
                  <a:srgbClr val="D19A66"/>
                </a:solidFill>
                <a:latin typeface="Fira Code"/>
              </a:rPr>
              <a:t>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143202"/>
            <a:ext cx="52197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E2E8F0"/>
                </a:solidFill>
                <a:latin typeface="Fira Code"/>
              </a:rPr>
              <a:t>&amp;&amp; request.auth.uid == userId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56473"/>
            <a:ext cx="52197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E2E8F0"/>
                </a:solidFill>
                <a:latin typeface="Fira Code"/>
              </a:rPr>
              <a:t>&amp;&amp; request.resource.size &lt;= </a:t>
            </a:r>
            <a:r>
              <a:rPr sz="1050" b="0" i="0" u="none">
                <a:solidFill>
                  <a:srgbClr val="D19A66"/>
                </a:solidFill>
                <a:latin typeface="Fira Code"/>
              </a:rPr>
              <a:t>25 * 1024 * 1024</a:t>
            </a:r>
            <a:r>
              <a:rPr sz="1050" b="0" i="0" u="none">
                <a:solidFill>
                  <a:srgbClr val="E2E8F0"/>
                </a:solidFill>
                <a:latin typeface="Fira Code"/>
              </a:rPr>
              <a:t>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569743"/>
            <a:ext cx="55245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E2E8F0"/>
                </a:solidFill>
                <a:latin typeface="Fira Code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8950" y="2501622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0" y="2499717"/>
            <a:ext cx="4743450" cy="61704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Bắt buộc đăng nhập: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Khách vãng lai không được phép đọc hay ghi.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8950" y="3271063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3269158"/>
            <a:ext cx="4743450" cy="61704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 dirty="0" err="1">
                <a:solidFill>
                  <a:srgbClr val="475569"/>
                </a:solidFill>
                <a:latin typeface="Inter"/>
              </a:rPr>
              <a:t>Quyền</a:t>
            </a:r>
            <a:r>
              <a:rPr sz="1350" b="1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1" i="0" u="none" dirty="0" err="1">
                <a:solidFill>
                  <a:srgbClr val="475569"/>
                </a:solidFill>
                <a:latin typeface="Inter"/>
              </a:rPr>
              <a:t>chính</a:t>
            </a:r>
            <a:r>
              <a:rPr sz="1350" b="1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1" i="0" u="none" dirty="0" err="1">
                <a:solidFill>
                  <a:srgbClr val="475569"/>
                </a:solidFill>
                <a:latin typeface="Inter"/>
              </a:rPr>
              <a:t>chủ</a:t>
            </a:r>
            <a:r>
              <a:rPr sz="1350" b="1" i="0" u="none" dirty="0">
                <a:solidFill>
                  <a:srgbClr val="475569"/>
                </a:solidFill>
                <a:latin typeface="Inter"/>
              </a:rPr>
              <a:t>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Khóa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uid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trong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đường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dẫn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phải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khớp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tuyệt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đối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với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request.auth.uid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8950" y="4040505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4038600"/>
            <a:ext cx="4743450" cy="61704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Kiểm soát dung lượng: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Chặn tải lên tệp vượt ngưỡng 25 MB tại máy chủ.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8950" y="4809946"/>
            <a:ext cx="952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4200" y="4808041"/>
            <a:ext cx="4743450" cy="61704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Mặc định an toàn: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Từ chối mọi truy cập không khớp các điều kiện cấp phép rõ ràng.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52625"/>
            <a:ext cx="5334000" cy="1238250"/>
          </a:xfrm>
          <a:prstGeom prst="roundRect">
            <a:avLst>
              <a:gd name="adj" fmla="val 123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952625"/>
            <a:ext cx="5334000" cy="1238250"/>
          </a:xfrm>
          <a:prstGeom prst="roundRect">
            <a:avLst>
              <a:gd name="adj" fmla="val 123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495675"/>
            <a:ext cx="5334000" cy="1238250"/>
          </a:xfrm>
          <a:prstGeom prst="roundRect">
            <a:avLst>
              <a:gd name="adj" fmla="val 123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3495675"/>
            <a:ext cx="5334000" cy="1238250"/>
          </a:xfrm>
          <a:prstGeom prst="roundRect">
            <a:avLst>
              <a:gd name="adj" fmla="val 123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62187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262187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3805237"/>
            <a:ext cx="33337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-381000" y="609600"/>
            <a:ext cx="12954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GIAO DIỆN ỨNG DỤNG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381000" y="876300"/>
            <a:ext cx="12954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Inter"/>
              </a:rPr>
              <a:t>Trải nghiệm và Trạng thái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86050"/>
            <a:ext cx="5905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Nhận biết ngay tài khoản đang hoạt động.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2686050"/>
            <a:ext cx="5638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Theo dõi tiến độ chờ trực quan minh bạch.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29100"/>
            <a:ext cx="5905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Phân biệt tệp cục bộ và tệp đã đồng bộ.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4229100"/>
            <a:ext cx="5638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Cảnh báo giới hạn thao tác khi mất kết nối.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57425"/>
            <a:ext cx="227528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Hồ sơ tài khoản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2300" y="2257425"/>
            <a:ext cx="235029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Thanh tiến trình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3800475"/>
            <a:ext cx="203775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Cloud Badges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8975" y="3800475"/>
            <a:ext cx="258782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Trạng thái Offline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05150"/>
            <a:ext cx="133350" cy="1714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71900"/>
            <a:ext cx="171450" cy="171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438650"/>
            <a:ext cx="17145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105400"/>
            <a:ext cx="219075" cy="1714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93557" y="1630793"/>
            <a:ext cx="10972800" cy="39814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405639"/>
              </p:ext>
            </p:extLst>
          </p:nvPr>
        </p:nvGraphicFramePr>
        <p:xfrm>
          <a:off x="693557" y="1635373"/>
          <a:ext cx="10972799" cy="3981450"/>
        </p:xfrm>
        <a:graphic>
          <a:graphicData uri="http://schemas.openxmlformats.org/drawingml/2006/table">
            <a:tbl>
              <a:tblPr/>
              <a:tblGrid>
                <a:gridCol w="4389090"/>
                <a:gridCol w="6583709"/>
              </a:tblGrid>
              <a:tr h="663575">
                <a:tc>
                  <a:txBody>
                    <a:bodyPr/>
                    <a:lstStyle/>
                    <a:p>
                      <a:pPr algn="l"/>
                      <a:r>
                        <a:rPr lang="vi-VN" sz="1350" b="1" i="0" u="none" dirty="0" smtClean="0">
                          <a:solidFill>
                            <a:srgbClr val="F8FAFC"/>
                          </a:solidFill>
                          <a:latin typeface="Inter"/>
                        </a:rPr>
                        <a:t>      </a:t>
                      </a:r>
                      <a:r>
                        <a:rPr sz="1350" b="1" i="0" u="none" dirty="0" err="1" smtClean="0">
                          <a:solidFill>
                            <a:srgbClr val="F8FAFC"/>
                          </a:solidFill>
                          <a:latin typeface="Inter"/>
                        </a:rPr>
                        <a:t>Ca</a:t>
                      </a:r>
                      <a:r>
                        <a:rPr sz="1350" b="1" i="0" u="none" dirty="0" smtClean="0">
                          <a:solidFill>
                            <a:srgbClr val="F8FAFC"/>
                          </a:solidFill>
                          <a:latin typeface="Inter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F8FAFC"/>
                          </a:solidFill>
                          <a:latin typeface="Inter"/>
                        </a:rPr>
                        <a:t>Kiểm</a:t>
                      </a:r>
                      <a:r>
                        <a:rPr sz="1350" b="1" i="0" u="none" dirty="0">
                          <a:solidFill>
                            <a:srgbClr val="F8FAFC"/>
                          </a:solidFill>
                          <a:latin typeface="Inter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F8FAFC"/>
                          </a:solidFill>
                          <a:latin typeface="Inter"/>
                        </a:rPr>
                        <a:t>Thử</a:t>
                      </a:r>
                      <a:endParaRPr sz="1350" b="1" i="0" u="none" dirty="0">
                        <a:solidFill>
                          <a:srgbClr val="F8FAFC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 err="1">
                          <a:solidFill>
                            <a:srgbClr val="F8FAFC"/>
                          </a:solidFill>
                          <a:latin typeface="Inter"/>
                        </a:rPr>
                        <a:t>Kết</a:t>
                      </a:r>
                      <a:r>
                        <a:rPr sz="1350" b="1" i="0" u="none" dirty="0">
                          <a:solidFill>
                            <a:srgbClr val="F8FAFC"/>
                          </a:solidFill>
                          <a:latin typeface="Inter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F8FAFC"/>
                          </a:solidFill>
                          <a:latin typeface="Inter"/>
                        </a:rPr>
                        <a:t>Quả</a:t>
                      </a:r>
                      <a:r>
                        <a:rPr sz="1350" b="1" i="0" u="none" dirty="0">
                          <a:solidFill>
                            <a:srgbClr val="F8FAFC"/>
                          </a:solidFill>
                          <a:latin typeface="Inter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F8FAFC"/>
                          </a:solidFill>
                          <a:latin typeface="Inter"/>
                        </a:rPr>
                        <a:t>Mong</a:t>
                      </a:r>
                      <a:r>
                        <a:rPr sz="1350" b="1" i="0" u="none" dirty="0">
                          <a:solidFill>
                            <a:srgbClr val="F8FAFC"/>
                          </a:solidFill>
                          <a:latin typeface="Inter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F8FAFC"/>
                          </a:solidFill>
                          <a:latin typeface="Inter"/>
                        </a:rPr>
                        <a:t>Đợi</a:t>
                      </a:r>
                      <a:endParaRPr sz="1350" b="1" i="0" u="none" dirty="0">
                        <a:solidFill>
                          <a:srgbClr val="F8FAFC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pPr algn="l"/>
                      <a:r>
                        <a:rPr lang="vi-VN" sz="1350" b="0" i="0" u="none" dirty="0" smtClean="0">
                          <a:solidFill>
                            <a:srgbClr val="0F172A"/>
                          </a:solidFill>
                          <a:latin typeface="Inter"/>
                        </a:rPr>
                        <a:t>      G</a:t>
                      </a:r>
                      <a:r>
                        <a:rPr sz="1350" b="0" i="0" u="none" dirty="0" err="1" smtClean="0">
                          <a:solidFill>
                            <a:srgbClr val="0F172A"/>
                          </a:solidFill>
                          <a:latin typeface="Inter"/>
                        </a:rPr>
                        <a:t>oogle</a:t>
                      </a:r>
                      <a:r>
                        <a:rPr sz="1350" b="0" i="0" u="none" dirty="0" smtClean="0">
                          <a:solidFill>
                            <a:srgbClr val="0F172A"/>
                          </a:solidFill>
                          <a:latin typeface="Inter"/>
                        </a:rPr>
                        <a:t> </a:t>
                      </a:r>
                      <a:r>
                        <a:rPr sz="1350" b="0" i="0" u="none" dirty="0">
                          <a:solidFill>
                            <a:srgbClr val="0F172A"/>
                          </a:solidFill>
                          <a:latin typeface="Inter"/>
                        </a:rPr>
                        <a:t>Sign-In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Inter"/>
                        </a:rPr>
                        <a:t>Nhận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Firebase UID </a:t>
                      </a:r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Inter"/>
                        </a:rPr>
                        <a:t>và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Inter"/>
                        </a:rPr>
                        <a:t>mở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Inter"/>
                        </a:rPr>
                        <a:t>đúng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Inter"/>
                        </a:rPr>
                        <a:t>hồ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Inter"/>
                        </a:rPr>
                        <a:t>sơ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0F172A"/>
                          </a:solidFill>
                          <a:latin typeface="Inter"/>
                        </a:rPr>
                        <a:t>Upload </a:t>
                      </a:r>
                      <a:r>
                        <a:rPr sz="1350" b="0" i="0" u="none" dirty="0" err="1">
                          <a:solidFill>
                            <a:srgbClr val="0F172A"/>
                          </a:solidFill>
                          <a:latin typeface="Inter"/>
                        </a:rPr>
                        <a:t>tệp</a:t>
                      </a:r>
                      <a:r>
                        <a:rPr sz="1350" b="0" i="0" u="none" dirty="0">
                          <a:solidFill>
                            <a:srgbClr val="0F172A"/>
                          </a:solidFill>
                          <a:latin typeface="Inter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0F172A"/>
                          </a:solidFill>
                          <a:latin typeface="Inter"/>
                        </a:rPr>
                        <a:t>hợp</a:t>
                      </a:r>
                      <a:r>
                        <a:rPr sz="1350" b="0" i="0" u="none" dirty="0">
                          <a:solidFill>
                            <a:srgbClr val="0F172A"/>
                          </a:solidFill>
                          <a:latin typeface="Inter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0F172A"/>
                          </a:solidFill>
                          <a:latin typeface="Inter"/>
                        </a:rPr>
                        <a:t>lệ</a:t>
                      </a:r>
                      <a:endParaRPr sz="1350" b="0" i="0" u="none" dirty="0">
                        <a:solidFill>
                          <a:srgbClr val="0F172A"/>
                        </a:solidFill>
                        <a:latin typeface="Inter"/>
                      </a:endParaRPr>
                    </a:p>
                  </a:txBody>
                  <a:tcPr marL="3619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Tiến trình chạy xong, trả về tham chiếu Storage.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0F172A"/>
                          </a:solidFill>
                          <a:latin typeface="Inter"/>
                        </a:rPr>
                        <a:t>Vi </a:t>
                      </a:r>
                      <a:r>
                        <a:rPr sz="1350" b="0" i="0" u="none" dirty="0" err="1">
                          <a:solidFill>
                            <a:srgbClr val="0F172A"/>
                          </a:solidFill>
                          <a:latin typeface="Inter"/>
                        </a:rPr>
                        <a:t>phạm</a:t>
                      </a:r>
                      <a:r>
                        <a:rPr sz="1350" b="0" i="0" u="none" dirty="0">
                          <a:solidFill>
                            <a:srgbClr val="0F172A"/>
                          </a:solidFill>
                          <a:latin typeface="Inter"/>
                        </a:rPr>
                        <a:t> UID</a:t>
                      </a:r>
                    </a:p>
                  </a:txBody>
                  <a:tcPr marL="4000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Rules từ chối thao tác đọc/ghi trái phép.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0F172A"/>
                          </a:solidFill>
                          <a:latin typeface="Inter"/>
                        </a:rPr>
                        <a:t>Vượt</a:t>
                      </a:r>
                      <a:r>
                        <a:rPr sz="1350" b="0" i="0" u="none" dirty="0">
                          <a:solidFill>
                            <a:srgbClr val="0F172A"/>
                          </a:solidFill>
                          <a:latin typeface="Inter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0F172A"/>
                          </a:solidFill>
                          <a:latin typeface="Inter"/>
                        </a:rPr>
                        <a:t>mức</a:t>
                      </a:r>
                      <a:r>
                        <a:rPr sz="1350" b="0" i="0" u="none" dirty="0">
                          <a:solidFill>
                            <a:srgbClr val="0F172A"/>
                          </a:solidFill>
                          <a:latin typeface="Inter"/>
                        </a:rPr>
                        <a:t> 25MB</a:t>
                      </a:r>
                    </a:p>
                  </a:txBody>
                  <a:tcPr marL="4000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Rules chặn tải lên, ứng dụng báo lỗi rõ ràng.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0F172A"/>
                          </a:solidFill>
                          <a:latin typeface="Inter"/>
                        </a:rPr>
                        <a:t>Đứt</a:t>
                      </a:r>
                      <a:r>
                        <a:rPr sz="1350" b="0" i="0" u="none" dirty="0">
                          <a:solidFill>
                            <a:srgbClr val="0F172A"/>
                          </a:solidFill>
                          <a:latin typeface="Inter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0F172A"/>
                          </a:solidFill>
                          <a:latin typeface="Inter"/>
                        </a:rPr>
                        <a:t>kết</a:t>
                      </a:r>
                      <a:r>
                        <a:rPr sz="1350" b="0" i="0" u="none" dirty="0">
                          <a:solidFill>
                            <a:srgbClr val="0F172A"/>
                          </a:solidFill>
                          <a:latin typeface="Inter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0F172A"/>
                          </a:solidFill>
                          <a:latin typeface="Inter"/>
                        </a:rPr>
                        <a:t>nối</a:t>
                      </a:r>
                      <a:r>
                        <a:rPr sz="1350" b="0" i="0" u="none" dirty="0">
                          <a:solidFill>
                            <a:srgbClr val="0F172A"/>
                          </a:solidFill>
                          <a:latin typeface="Inter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0F172A"/>
                          </a:solidFill>
                          <a:latin typeface="Inter"/>
                        </a:rPr>
                        <a:t>mạng</a:t>
                      </a:r>
                      <a:endParaRPr sz="1350" b="0" i="0" u="none" dirty="0">
                        <a:solidFill>
                          <a:srgbClr val="0F172A"/>
                        </a:solidFill>
                        <a:latin typeface="Inter"/>
                      </a:endParaRPr>
                    </a:p>
                  </a:txBody>
                  <a:tcPr marL="4476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Inter"/>
                        </a:rPr>
                        <a:t>Giao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Inter"/>
                        </a:rPr>
                        <a:t>diện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Inter"/>
                        </a:rPr>
                        <a:t>báo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Offline, </a:t>
                      </a:r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Inter"/>
                        </a:rPr>
                        <a:t>không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Inter"/>
                        </a:rPr>
                        <a:t>giả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Inter"/>
                        </a:rPr>
                        <a:t>lập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Inter"/>
                        </a:rPr>
                        <a:t>thành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475569"/>
                          </a:solidFill>
                          <a:latin typeface="Inter"/>
                        </a:rPr>
                        <a:t>công</a:t>
                      </a:r>
                      <a:r>
                        <a:rPr sz="1350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Kiểm thử và Demo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2" y="2541543"/>
            <a:ext cx="161925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64" y="3192240"/>
            <a:ext cx="1333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64" y="3875043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364" y="4541793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51" y="5181986"/>
            <a:ext cx="219075" cy="171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843212"/>
            <a:ext cx="457200" cy="285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10362" y="2947987"/>
            <a:ext cx="4572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228975"/>
            <a:ext cx="1714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914775"/>
            <a:ext cx="1714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391025"/>
            <a:ext cx="1714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362" y="3333750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362" y="3810000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362" y="4286250"/>
            <a:ext cx="17145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2271712"/>
            <a:ext cx="6394549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Inter"/>
              </a:rPr>
              <a:t>Đã Triển Khai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0362" y="2376487"/>
            <a:ext cx="5481637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Inter"/>
              </a:rPr>
              <a:t>Hướng Phát Triển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176587"/>
            <a:ext cx="46434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CA28"/>
                </a:solidFill>
                <a:latin typeface="Inter"/>
              </a:rPr>
              <a:t>Tích hợp thành công Auth và Storage cho 3 nền tảng.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862387"/>
            <a:ext cx="576619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CA28"/>
                </a:solidFill>
                <a:latin typeface="Inter"/>
              </a:rPr>
              <a:t>Tổ chức lưu trữ an toàn theo Firebase UID.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4338637"/>
            <a:ext cx="576619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CA28"/>
                </a:solidFill>
                <a:latin typeface="Inter"/>
              </a:rPr>
              <a:t>Hoàn thiện giao diện báo tiến trình tải tệp.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4212" y="3281362"/>
            <a:ext cx="51577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CA28"/>
                </a:solidFill>
                <a:latin typeface="Inter"/>
              </a:rPr>
              <a:t>Đồng bộ Metadata qua Firestore thay vì SQLite.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4212" y="3757612"/>
            <a:ext cx="51577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CA28"/>
                </a:solidFill>
                <a:latin typeface="Inter"/>
              </a:rPr>
              <a:t>Xử lý xung đột đồng bộ giữa nhiều thiết bị.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4212" y="4233862"/>
            <a:ext cx="51577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CA28"/>
                </a:solidFill>
                <a:latin typeface="Inter"/>
              </a:rPr>
              <a:t>Kiểm thử tải hiệu năng truyền tải khi mạng yếu.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874</Words>
  <Application>Microsoft Office PowerPoint</Application>
  <PresentationFormat>Widescreen</PresentationFormat>
  <Paragraphs>137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Inter</vt:lpstr>
      <vt:lpstr>Fira Code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4</cp:revision>
  <dcterms:created xsi:type="dcterms:W3CDTF">2013-01-27T09:14:16Z</dcterms:created>
  <dcterms:modified xsi:type="dcterms:W3CDTF">2026-10-09T13:06:52Z</dcterms:modified>
  <cp:category/>
</cp:coreProperties>
</file>