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3" d="100"/>
          <a:sy n="53" d="100"/>
        </p:scale>
        <p:origin x="53" y="4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AFB09-DAFB-4260-80FB-F62A30B466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7AC78D-FCBA-474C-AA5F-04BCD5DEC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79AD38-F438-475D-973F-CB7342A395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1BFBF5-7D2C-4708-A176-10536A68F9D6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3C626A-01C7-424C-9626-BAFAAAB126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5A4291-DA52-4348-BA7B-2F911BA36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138B7-6157-45A0-A7BF-1CF0B83F1F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9433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067E88-160D-4556-ABA7-7CF356996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8196E3-2EDE-4B94-B2A1-A5D1F94F81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B563B7-5137-46A2-B4D2-58CB50057E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1BFBF5-7D2C-4708-A176-10536A68F9D6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034DCA-8BB5-4051-B1BF-E6E479A6F8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11AD24-CCD1-4291-B43C-74556D346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138B7-6157-45A0-A7BF-1CF0B83F1F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6510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0C553-7C73-4681-B61B-95EA460F2F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B8BBD3-8F17-4E1A-A454-52070DA0FD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2DC3A1-ABC9-4323-A4B9-7EC1EB3C66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1BFBF5-7D2C-4708-A176-10536A68F9D6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F2F6E9-A00B-41D4-9CAC-74AAE6507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FEDAAE-4739-4915-8DF6-2E94DE14B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138B7-6157-45A0-A7BF-1CF0B83F1F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403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2CCCA-1635-451C-970A-1B99D9BE8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0138C8-011D-42B2-9F46-33C1407E36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C48D42-C9E2-4E96-B4D9-2DEF011D78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1B0029-6EDA-4C29-8A7F-0ED3C2426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1BFBF5-7D2C-4708-A176-10536A68F9D6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F66C3C-07BE-46DC-89F6-5828057392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0DD609-8F52-4FF8-9025-2D5B1EC6D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138B7-6157-45A0-A7BF-1CF0B83F1F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121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9B59E-29CA-4E68-9739-36505342F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5CDE1D-78AC-4A2A-ABF1-78DC33106D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D778ED-8942-4856-B96A-A202D95286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7A22C5-FFFE-4EF2-9C07-CDF6E3CDEA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31C2D2-6B43-4566-876F-C73DBA6AC0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2599E7-A6AB-4D2C-A133-A81E68365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1BFBF5-7D2C-4708-A176-10536A68F9D6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FA2D93B-5B0E-4531-AB0F-AF5988FD7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5E9F6C-B024-40CB-9DEB-B598C5D54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138B7-6157-45A0-A7BF-1CF0B83F1F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1868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30AC8-91E1-4C96-A5AD-2791D0611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05C3241-2AAF-4744-85D0-FE5ED8D60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1BFBF5-7D2C-4708-A176-10536A68F9D6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6F9BE6-244D-4148-9FE2-53B778F3B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8282F1-DABB-481C-BAE7-DBDAD117A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138B7-6157-45A0-A7BF-1CF0B83F1F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880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192F65-38D8-4EEC-83D1-37E8AE9FD1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1BFBF5-7D2C-4708-A176-10536A68F9D6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390E574-506D-4F79-B415-ADC56D4A1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1A34B5-5522-4E23-AF05-EF442AD3F7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138B7-6157-45A0-A7BF-1CF0B83F1F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1793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47510-DDCA-4D7B-B0A6-B079C0248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38243A-9807-4B5F-924C-F453E6CA83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037015-3085-4B9E-A3D9-B4670D4888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161421-DCC1-45D9-A572-5867E4FA5E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1BFBF5-7D2C-4708-A176-10536A68F9D6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62376F-3E58-4555-90E6-6018C3100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8B9581-333F-47E8-A304-51CF190A4A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138B7-6157-45A0-A7BF-1CF0B83F1F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4615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AB0E6-7A64-4F16-B031-9DF4843AF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6DC4D1F-526B-4B57-8784-8FB02AACDF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EA02AF-B23F-4785-BB1C-1D31643170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665571-9F33-4800-A10B-03E3FAA101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1BFBF5-7D2C-4708-A176-10536A68F9D6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B742FF-58EB-4557-9E02-5F38DE0BB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C593-EE44-4DEF-8E87-386959515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138B7-6157-45A0-A7BF-1CF0B83F1F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052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D8363E-8472-4F74-B0EE-E25D74E1C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C31CF4-72B0-4676-9BB2-3E443D1B9D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F05065-23F2-4B2C-B811-EB8EC74F2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1BFBF5-7D2C-4708-A176-10536A68F9D6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EBDBA-B627-47E6-8144-984DC90181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FC524F-86F6-4743-AB80-8D80BD5C4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138B7-6157-45A0-A7BF-1CF0B83F1F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2892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5213F6-7428-477F-B58D-37F75C89CB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35DC60-7857-4EBE-8A5F-47486AB8AE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586DA7-5D68-4F0D-8DC1-7B74719AB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1BFBF5-7D2C-4708-A176-10536A68F9D6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7D0B35-23AE-4A5F-A52D-7DA82EAB9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E463C6-22A0-496C-BD1A-A6E57A36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138B7-6157-45A0-A7BF-1CF0B83F1F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9027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91EDF46-90D6-4D17-B67D-134CA9497D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258DC0-4FF4-4548-AB2E-2B4376107E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25F3A5-B7BF-4CAD-A49E-BF9FB5C971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1BFBF5-7D2C-4708-A176-10536A68F9D6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79BEBC-7893-44F5-A1E3-0E812332D6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57045A-ABF5-4D7E-AC9E-0C0C975AB5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0138B7-6157-45A0-A7BF-1CF0B83F1F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317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6D65EAA-AC55-4DA6-A2DC-07A4174AD20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1F3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C9ECB27-50EC-4E51-8FB6-A98DBF11AC26}"/>
              </a:ext>
            </a:extLst>
          </p:cNvPr>
          <p:cNvSpPr/>
          <p:nvPr/>
        </p:nvSpPr>
        <p:spPr>
          <a:xfrm>
            <a:off x="736600" y="889000"/>
            <a:ext cx="127000" cy="4635500"/>
          </a:xfrm>
          <a:prstGeom prst="rect">
            <a:avLst/>
          </a:prstGeom>
          <a:solidFill>
            <a:srgbClr val="3CD1B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C82F70-1B1A-4233-8298-5D4BD43E912C}"/>
              </a:ext>
            </a:extLst>
          </p:cNvPr>
          <p:cNvSpPr txBox="1"/>
          <p:nvPr/>
        </p:nvSpPr>
        <p:spPr>
          <a:xfrm>
            <a:off x="1270000" y="1460500"/>
            <a:ext cx="10160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3600" b="1">
                <a:solidFill>
                  <a:srgbClr val="FFFFFF"/>
                </a:solidFill>
                <a:latin typeface="Aptos Display"/>
              </a:rPr>
              <a:t>Firebase cho ứng dụng Quản lý Tài liệu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0EDD74-853C-4ACE-8BE3-866F0E29B795}"/>
              </a:ext>
            </a:extLst>
          </p:cNvPr>
          <p:cNvSpPr txBox="1"/>
          <p:nvPr/>
        </p:nvSpPr>
        <p:spPr>
          <a:xfrm>
            <a:off x="1295400" y="3111500"/>
            <a:ext cx="10033000" cy="4154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100">
                <a:solidFill>
                  <a:srgbClr val="3CD1BE"/>
                </a:solidFill>
                <a:latin typeface="Aptos"/>
              </a:rPr>
              <a:t>Google Sign-In • Cloud Storage • Thiết lập tài khoản nhóm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494AA1-B49E-4949-8983-467EAE9F1326}"/>
              </a:ext>
            </a:extLst>
          </p:cNvPr>
          <p:cNvSpPr txBox="1"/>
          <p:nvPr/>
        </p:nvSpPr>
        <p:spPr>
          <a:xfrm>
            <a:off x="1295400" y="4318000"/>
            <a:ext cx="9906000" cy="8771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700">
                <a:solidFill>
                  <a:srgbClr val="FFFFFF"/>
                </a:solidFill>
                <a:latin typeface="Aptos"/>
              </a:rPr>
              <a:t>Study Document Manager
Firebase project: cashew-study-docs-3afed
Nhóm: [Điền tên nhóm]  |  Thành viên: [Điền tên thành viên]</a:t>
            </a:r>
          </a:p>
        </p:txBody>
      </p:sp>
    </p:spTree>
    <p:extLst>
      <p:ext uri="{BB962C8B-B14F-4D97-AF65-F5344CB8AC3E}">
        <p14:creationId xmlns:p14="http://schemas.microsoft.com/office/powerpoint/2010/main" val="37873662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6EB45EF-E348-4439-A3E7-2F7D00B2FAA6}"/>
              </a:ext>
            </a:extLst>
          </p:cNvPr>
          <p:cNvSpPr/>
          <p:nvPr/>
        </p:nvSpPr>
        <p:spPr>
          <a:xfrm>
            <a:off x="0" y="0"/>
            <a:ext cx="12192000" cy="1092200"/>
          </a:xfrm>
          <a:prstGeom prst="rect">
            <a:avLst/>
          </a:prstGeom>
          <a:solidFill>
            <a:srgbClr val="141F3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E067F53-E37E-4F4E-BA15-20A5104D39B1}"/>
              </a:ext>
            </a:extLst>
          </p:cNvPr>
          <p:cNvSpPr/>
          <p:nvPr/>
        </p:nvSpPr>
        <p:spPr>
          <a:xfrm>
            <a:off x="0" y="1066800"/>
            <a:ext cx="12192000" cy="63500"/>
          </a:xfrm>
          <a:prstGeom prst="rect">
            <a:avLst/>
          </a:prstGeom>
          <a:solidFill>
            <a:srgbClr val="3CD1B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823DB0-24CC-48C2-9360-6EA0769F5D60}"/>
              </a:ext>
            </a:extLst>
          </p:cNvPr>
          <p:cNvSpPr txBox="1"/>
          <p:nvPr/>
        </p:nvSpPr>
        <p:spPr>
          <a:xfrm>
            <a:off x="609600" y="228600"/>
            <a:ext cx="10922000" cy="5078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700" b="1">
                <a:solidFill>
                  <a:srgbClr val="FFFFFF"/>
                </a:solidFill>
                <a:latin typeface="Aptos Display"/>
              </a:rPr>
              <a:t>Firebase là gì?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6C73D6-A91F-4DD3-B848-72850057623B}"/>
              </a:ext>
            </a:extLst>
          </p:cNvPr>
          <p:cNvSpPr txBox="1"/>
          <p:nvPr/>
        </p:nvSpPr>
        <p:spPr>
          <a:xfrm>
            <a:off x="863600" y="1422400"/>
            <a:ext cx="10541000" cy="1687641"/>
          </a:xfrm>
          <a:prstGeom prst="rect">
            <a:avLst/>
          </a:prstGeom>
          <a:noFill/>
        </p:spPr>
        <p:txBody>
          <a:bodyPr vert="horz" wrap="square" lIns="152400" tIns="101600" rIns="152400" rtlCol="0">
            <a:spAutoFit/>
          </a:bodyPr>
          <a:lstStyle/>
          <a:p>
            <a:r>
              <a:rPr lang="vi-VN" sz="2000">
                <a:solidFill>
                  <a:srgbClr val="232D46"/>
                </a:solidFill>
                <a:latin typeface="Aptos"/>
              </a:rPr>
              <a:t>•  Nền tảng Backend-as-a-Service của Google, cung cấp các dịch vụ cloud quản lý sẵn.
•  Authentication: xác thực người dùng, hỗ trợ Google Sign-In.
•  Cloud Storage: lưu tệp; Firebase Security Rules kiểm soát quyền truy cập.
•  Cloud Firestore: cơ sở dữ liệu document, có thể dùng cho metadata đa thiết bị.
•  Prototype đã tích hợp Authentication + Storage; Firestore chưa tích hợp.</a:t>
            </a:r>
            <a:endParaRPr lang="en-US" sz="2000">
              <a:solidFill>
                <a:srgbClr val="232D46"/>
              </a:solidFill>
              <a:latin typeface="Apto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6D1525-2F7D-41CC-AF32-B62CD47A0AA7}"/>
              </a:ext>
            </a:extLst>
          </p:cNvPr>
          <p:cNvSpPr txBox="1"/>
          <p:nvPr/>
        </p:nvSpPr>
        <p:spPr>
          <a:xfrm>
            <a:off x="889000" y="6350000"/>
            <a:ext cx="1054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5F6C84"/>
                </a:solidFill>
              </a:rPr>
              <a:t>Study Document Manager • cashew-study-docs-3afed • 2 / 11</a:t>
            </a:r>
          </a:p>
        </p:txBody>
      </p:sp>
    </p:spTree>
    <p:extLst>
      <p:ext uri="{BB962C8B-B14F-4D97-AF65-F5344CB8AC3E}">
        <p14:creationId xmlns:p14="http://schemas.microsoft.com/office/powerpoint/2010/main" val="26021928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FEEE704-888D-41AC-91C4-0712707A3171}"/>
              </a:ext>
            </a:extLst>
          </p:cNvPr>
          <p:cNvSpPr/>
          <p:nvPr/>
        </p:nvSpPr>
        <p:spPr>
          <a:xfrm>
            <a:off x="0" y="0"/>
            <a:ext cx="12192000" cy="1092200"/>
          </a:xfrm>
          <a:prstGeom prst="rect">
            <a:avLst/>
          </a:prstGeom>
          <a:solidFill>
            <a:srgbClr val="141F3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C32C9F3-9A33-42DC-A50D-9E0CB0CFE0E3}"/>
              </a:ext>
            </a:extLst>
          </p:cNvPr>
          <p:cNvSpPr/>
          <p:nvPr/>
        </p:nvSpPr>
        <p:spPr>
          <a:xfrm>
            <a:off x="0" y="1066800"/>
            <a:ext cx="12192000" cy="63500"/>
          </a:xfrm>
          <a:prstGeom prst="rect">
            <a:avLst/>
          </a:prstGeom>
          <a:solidFill>
            <a:srgbClr val="3CD1B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CAE842-01BB-4DFF-980C-A87139868A32}"/>
              </a:ext>
            </a:extLst>
          </p:cNvPr>
          <p:cNvSpPr txBox="1"/>
          <p:nvPr/>
        </p:nvSpPr>
        <p:spPr>
          <a:xfrm>
            <a:off x="609600" y="228600"/>
            <a:ext cx="10922000" cy="5078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700" b="1">
                <a:solidFill>
                  <a:srgbClr val="FFFFFF"/>
                </a:solidFill>
                <a:latin typeface="Aptos Display"/>
              </a:rPr>
              <a:t>Kiến trúc hiện tại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8F9058-4A6B-419E-BDB5-08F3BDC9F2ED}"/>
              </a:ext>
            </a:extLst>
          </p:cNvPr>
          <p:cNvSpPr txBox="1"/>
          <p:nvPr/>
        </p:nvSpPr>
        <p:spPr>
          <a:xfrm>
            <a:off x="863600" y="1422400"/>
            <a:ext cx="10541000" cy="1687641"/>
          </a:xfrm>
          <a:prstGeom prst="rect">
            <a:avLst/>
          </a:prstGeom>
          <a:noFill/>
        </p:spPr>
        <p:txBody>
          <a:bodyPr vert="horz" wrap="square" lIns="152400" tIns="101600" rIns="152400" rtlCol="0">
            <a:spAutoFit/>
          </a:bodyPr>
          <a:lstStyle/>
          <a:p>
            <a:r>
              <a:rPr lang="vi-VN" sz="2000">
                <a:solidFill>
                  <a:srgbClr val="232D46"/>
                </a:solidFill>
                <a:latin typeface="Aptos"/>
              </a:rPr>
              <a:t>•  Người dùng → Flutter → Firebase Authentication (Google / UID).
•  Flutter → Firebase Cloud Storage (file theo UID, bảo vệ bởi Storage Rules).
•  Flutter ↔ SQLite trên thiết bị (metadata + storage_path).
•  SQLite metadata vẫn cục bộ; đăng nhập thiết bị khác không tự đồng bộ tài liệu.
•  Mô hình Hybrid: ứng dụng local kết hợp Firebase Public Cloud.</a:t>
            </a:r>
            <a:endParaRPr lang="en-US" sz="2000">
              <a:solidFill>
                <a:srgbClr val="232D46"/>
              </a:solidFill>
              <a:latin typeface="Apto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6B3FBF-6428-43A7-B9A6-E6C74E30DA65}"/>
              </a:ext>
            </a:extLst>
          </p:cNvPr>
          <p:cNvSpPr txBox="1"/>
          <p:nvPr/>
        </p:nvSpPr>
        <p:spPr>
          <a:xfrm>
            <a:off x="889000" y="6350000"/>
            <a:ext cx="1054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5F6C84"/>
                </a:solidFill>
              </a:rPr>
              <a:t>Study Document Manager • cashew-study-docs-3afed • 3 / 11</a:t>
            </a:r>
          </a:p>
        </p:txBody>
      </p:sp>
    </p:spTree>
    <p:extLst>
      <p:ext uri="{BB962C8B-B14F-4D97-AF65-F5344CB8AC3E}">
        <p14:creationId xmlns:p14="http://schemas.microsoft.com/office/powerpoint/2010/main" val="35794642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875A75C-E570-4D51-AB10-C1BB175B7971}"/>
              </a:ext>
            </a:extLst>
          </p:cNvPr>
          <p:cNvSpPr/>
          <p:nvPr/>
        </p:nvSpPr>
        <p:spPr>
          <a:xfrm>
            <a:off x="0" y="0"/>
            <a:ext cx="12192000" cy="1092200"/>
          </a:xfrm>
          <a:prstGeom prst="rect">
            <a:avLst/>
          </a:prstGeom>
          <a:solidFill>
            <a:srgbClr val="141F3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72E7B63-260B-4BD6-A132-7EF95D67267D}"/>
              </a:ext>
            </a:extLst>
          </p:cNvPr>
          <p:cNvSpPr/>
          <p:nvPr/>
        </p:nvSpPr>
        <p:spPr>
          <a:xfrm>
            <a:off x="0" y="1066800"/>
            <a:ext cx="12192000" cy="63500"/>
          </a:xfrm>
          <a:prstGeom prst="rect">
            <a:avLst/>
          </a:prstGeom>
          <a:solidFill>
            <a:srgbClr val="3CD1B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C923CB-FC3D-4C59-BA8C-F0F5C402F70C}"/>
              </a:ext>
            </a:extLst>
          </p:cNvPr>
          <p:cNvSpPr txBox="1"/>
          <p:nvPr/>
        </p:nvSpPr>
        <p:spPr>
          <a:xfrm>
            <a:off x="609600" y="228600"/>
            <a:ext cx="10922000" cy="5078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700" b="1">
                <a:solidFill>
                  <a:srgbClr val="FFFFFF"/>
                </a:solidFill>
                <a:latin typeface="Aptos Display"/>
              </a:rPr>
              <a:t>Thiết lập tài khoản nhóm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A65B5A-A9C1-4110-BDF0-B35D8D5EFAA1}"/>
              </a:ext>
            </a:extLst>
          </p:cNvPr>
          <p:cNvSpPr txBox="1"/>
          <p:nvPr/>
        </p:nvSpPr>
        <p:spPr>
          <a:xfrm>
            <a:off x="863600" y="1422400"/>
            <a:ext cx="10541000" cy="1687641"/>
          </a:xfrm>
          <a:prstGeom prst="rect">
            <a:avLst/>
          </a:prstGeom>
          <a:noFill/>
        </p:spPr>
        <p:txBody>
          <a:bodyPr vert="horz" wrap="square" lIns="152400" tIns="101600" rIns="152400" rtlCol="0">
            <a:spAutoFit/>
          </a:bodyPr>
          <a:lstStyle/>
          <a:p>
            <a:r>
              <a:rPr lang="vi-VN" sz="2000">
                <a:solidFill>
                  <a:srgbClr val="232D46"/>
                </a:solidFill>
                <a:latin typeface="Aptos"/>
              </a:rPr>
              <a:t>•  Nhóm trưởng tạo/chọn project cashew-study-docs-3afed.
•  Project settings → Users and permissions: mời thành viên bằng email Google.
•  Cấp đúng quyền cần cấu hình/deploy Rules; không chia sẻ mật khẩu cá nhân.
•  Mỗi thành viên chạy firebase login rồi firebase projects:list để xác nhận quyền.
•  Dùng dữ liệu thử; không đưa service-account key vào app/repository.</a:t>
            </a:r>
            <a:endParaRPr lang="en-US" sz="2000">
              <a:solidFill>
                <a:srgbClr val="232D46"/>
              </a:solidFill>
              <a:latin typeface="Apto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5BFB6F-80EF-4B54-A6C5-55C1CA98E9DC}"/>
              </a:ext>
            </a:extLst>
          </p:cNvPr>
          <p:cNvSpPr txBox="1"/>
          <p:nvPr/>
        </p:nvSpPr>
        <p:spPr>
          <a:xfrm>
            <a:off x="889000" y="6350000"/>
            <a:ext cx="1054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5F6C84"/>
                </a:solidFill>
              </a:rPr>
              <a:t>Study Document Manager • cashew-study-docs-3afed • 4 / 11</a:t>
            </a:r>
          </a:p>
        </p:txBody>
      </p:sp>
    </p:spTree>
    <p:extLst>
      <p:ext uri="{BB962C8B-B14F-4D97-AF65-F5344CB8AC3E}">
        <p14:creationId xmlns:p14="http://schemas.microsoft.com/office/powerpoint/2010/main" val="39522931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2D7DCCB-8DD3-4F45-A125-496A074D3622}"/>
              </a:ext>
            </a:extLst>
          </p:cNvPr>
          <p:cNvSpPr/>
          <p:nvPr/>
        </p:nvSpPr>
        <p:spPr>
          <a:xfrm>
            <a:off x="0" y="0"/>
            <a:ext cx="12192000" cy="1092200"/>
          </a:xfrm>
          <a:prstGeom prst="rect">
            <a:avLst/>
          </a:prstGeom>
          <a:solidFill>
            <a:srgbClr val="141F3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3D219DB-75F1-4AB6-B957-6D2109DC693C}"/>
              </a:ext>
            </a:extLst>
          </p:cNvPr>
          <p:cNvSpPr/>
          <p:nvPr/>
        </p:nvSpPr>
        <p:spPr>
          <a:xfrm>
            <a:off x="0" y="1066800"/>
            <a:ext cx="12192000" cy="63500"/>
          </a:xfrm>
          <a:prstGeom prst="rect">
            <a:avLst/>
          </a:prstGeom>
          <a:solidFill>
            <a:srgbClr val="3CD1B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617823-7D51-43FF-B94F-6737600432FB}"/>
              </a:ext>
            </a:extLst>
          </p:cNvPr>
          <p:cNvSpPr txBox="1"/>
          <p:nvPr/>
        </p:nvSpPr>
        <p:spPr>
          <a:xfrm>
            <a:off x="609600" y="228600"/>
            <a:ext cx="10922000" cy="5078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700" b="1">
                <a:solidFill>
                  <a:srgbClr val="FFFFFF"/>
                </a:solidFill>
                <a:latin typeface="Aptos Display"/>
              </a:rPr>
              <a:t>Bật Google Authentication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5B1B0D-692E-458F-A653-7EC499F57FD7}"/>
              </a:ext>
            </a:extLst>
          </p:cNvPr>
          <p:cNvSpPr txBox="1"/>
          <p:nvPr/>
        </p:nvSpPr>
        <p:spPr>
          <a:xfrm>
            <a:off x="863600" y="1422400"/>
            <a:ext cx="10541000" cy="1687641"/>
          </a:xfrm>
          <a:prstGeom prst="rect">
            <a:avLst/>
          </a:prstGeom>
          <a:noFill/>
        </p:spPr>
        <p:txBody>
          <a:bodyPr vert="horz" wrap="square" lIns="152400" tIns="101600" rIns="152400" rtlCol="0">
            <a:spAutoFit/>
          </a:bodyPr>
          <a:lstStyle/>
          <a:p>
            <a:r>
              <a:rPr lang="vi-VN" sz="2000">
                <a:solidFill>
                  <a:srgbClr val="232D46"/>
                </a:solidFill>
                <a:latin typeface="Aptos"/>
              </a:rPr>
              <a:t>•  Console → Build → Authentication → Get started.
•  Sign-in method → Google → Enable → chọn support email → Save.
•  Android package: vn.edu.cashew.study_document_manager; thêm SHA-1.
•  Lấy SHA-1 debug: .\gradlew signingReport trong thư mục android.
•  Web: thêm hostname vào Authorized domains. iOS: kiểm tra Bundle ID và URL scheme.</a:t>
            </a:r>
            <a:endParaRPr lang="en-US" sz="2000">
              <a:solidFill>
                <a:srgbClr val="232D46"/>
              </a:solidFill>
              <a:latin typeface="Apto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E75AD4-DA0A-436C-A360-541A273E5169}"/>
              </a:ext>
            </a:extLst>
          </p:cNvPr>
          <p:cNvSpPr txBox="1"/>
          <p:nvPr/>
        </p:nvSpPr>
        <p:spPr>
          <a:xfrm>
            <a:off x="889000" y="6350000"/>
            <a:ext cx="1054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5F6C84"/>
                </a:solidFill>
              </a:rPr>
              <a:t>Study Document Manager • cashew-study-docs-3afed • 5 / 11</a:t>
            </a:r>
          </a:p>
        </p:txBody>
      </p:sp>
    </p:spTree>
    <p:extLst>
      <p:ext uri="{BB962C8B-B14F-4D97-AF65-F5344CB8AC3E}">
        <p14:creationId xmlns:p14="http://schemas.microsoft.com/office/powerpoint/2010/main" val="15662261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5859AB3-ABCD-402E-8912-23576899C9E9}"/>
              </a:ext>
            </a:extLst>
          </p:cNvPr>
          <p:cNvSpPr/>
          <p:nvPr/>
        </p:nvSpPr>
        <p:spPr>
          <a:xfrm>
            <a:off x="0" y="0"/>
            <a:ext cx="12192000" cy="1092200"/>
          </a:xfrm>
          <a:prstGeom prst="rect">
            <a:avLst/>
          </a:prstGeom>
          <a:solidFill>
            <a:srgbClr val="141F3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249DDD9-8176-4B79-BAE9-014449170262}"/>
              </a:ext>
            </a:extLst>
          </p:cNvPr>
          <p:cNvSpPr/>
          <p:nvPr/>
        </p:nvSpPr>
        <p:spPr>
          <a:xfrm>
            <a:off x="0" y="1066800"/>
            <a:ext cx="12192000" cy="63500"/>
          </a:xfrm>
          <a:prstGeom prst="rect">
            <a:avLst/>
          </a:prstGeom>
          <a:solidFill>
            <a:srgbClr val="3CD1B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4D8599-98A1-4EAD-BD6A-782E37B57E0C}"/>
              </a:ext>
            </a:extLst>
          </p:cNvPr>
          <p:cNvSpPr txBox="1"/>
          <p:nvPr/>
        </p:nvSpPr>
        <p:spPr>
          <a:xfrm>
            <a:off x="609600" y="228600"/>
            <a:ext cx="10922000" cy="5078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700" b="1">
                <a:solidFill>
                  <a:srgbClr val="FFFFFF"/>
                </a:solidFill>
                <a:latin typeface="Aptos Display"/>
              </a:rPr>
              <a:t>Tạo Storage bucket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1851AF-B4F0-40C3-949B-145FA142C9C6}"/>
              </a:ext>
            </a:extLst>
          </p:cNvPr>
          <p:cNvSpPr txBox="1"/>
          <p:nvPr/>
        </p:nvSpPr>
        <p:spPr>
          <a:xfrm>
            <a:off x="863600" y="1422400"/>
            <a:ext cx="10541000" cy="1687641"/>
          </a:xfrm>
          <a:prstGeom prst="rect">
            <a:avLst/>
          </a:prstGeom>
          <a:noFill/>
        </p:spPr>
        <p:txBody>
          <a:bodyPr vert="horz" wrap="square" lIns="152400" tIns="101600" rIns="152400" rtlCol="0">
            <a:spAutoFit/>
          </a:bodyPr>
          <a:lstStyle/>
          <a:p>
            <a:r>
              <a:rPr lang="vi-VN" sz="2000">
                <a:solidFill>
                  <a:srgbClr val="232D46"/>
                </a:solidFill>
                <a:latin typeface="Aptos"/>
              </a:rPr>
              <a:t>•  Console → Build → Storage → Create bucket / Get started.
•  Firebase yêu cầu Blaze để tạo bucket mới; bật billing chỉ khi project owner đồng ý.
•  Region thường khó đổi; kiểm tra pricing/free tier và rủi ro vượt quota trước khi tạo.
•  Thiết lập budget alert; cảnh báo không tự chặn chi tiêu.
•  Giữ bucket private, không bật public access.</a:t>
            </a:r>
            <a:endParaRPr lang="en-US" sz="2000">
              <a:solidFill>
                <a:srgbClr val="232D46"/>
              </a:solidFill>
              <a:latin typeface="Apto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C580F5-362A-4358-8DAB-81E16661E92B}"/>
              </a:ext>
            </a:extLst>
          </p:cNvPr>
          <p:cNvSpPr txBox="1"/>
          <p:nvPr/>
        </p:nvSpPr>
        <p:spPr>
          <a:xfrm>
            <a:off x="889000" y="6350000"/>
            <a:ext cx="1054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5F6C84"/>
                </a:solidFill>
              </a:rPr>
              <a:t>Study Document Manager • cashew-study-docs-3afed • 6 / 11</a:t>
            </a:r>
          </a:p>
        </p:txBody>
      </p:sp>
    </p:spTree>
    <p:extLst>
      <p:ext uri="{BB962C8B-B14F-4D97-AF65-F5344CB8AC3E}">
        <p14:creationId xmlns:p14="http://schemas.microsoft.com/office/powerpoint/2010/main" val="28972289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9870326-AACD-494B-98BC-912FF5F1E130}"/>
              </a:ext>
            </a:extLst>
          </p:cNvPr>
          <p:cNvSpPr/>
          <p:nvPr/>
        </p:nvSpPr>
        <p:spPr>
          <a:xfrm>
            <a:off x="0" y="0"/>
            <a:ext cx="12192000" cy="1092200"/>
          </a:xfrm>
          <a:prstGeom prst="rect">
            <a:avLst/>
          </a:prstGeom>
          <a:solidFill>
            <a:srgbClr val="141F3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A8907F-F247-4A01-89CB-559E26D9FB17}"/>
              </a:ext>
            </a:extLst>
          </p:cNvPr>
          <p:cNvSpPr/>
          <p:nvPr/>
        </p:nvSpPr>
        <p:spPr>
          <a:xfrm>
            <a:off x="0" y="1066800"/>
            <a:ext cx="12192000" cy="63500"/>
          </a:xfrm>
          <a:prstGeom prst="rect">
            <a:avLst/>
          </a:prstGeom>
          <a:solidFill>
            <a:srgbClr val="3CD1B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5C60EDA-3708-4E43-9155-47ED82C6AA6C}"/>
              </a:ext>
            </a:extLst>
          </p:cNvPr>
          <p:cNvSpPr txBox="1"/>
          <p:nvPr/>
        </p:nvSpPr>
        <p:spPr>
          <a:xfrm>
            <a:off x="609600" y="228600"/>
            <a:ext cx="10922000" cy="5078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700" b="1">
                <a:solidFill>
                  <a:srgbClr val="FFFFFF"/>
                </a:solidFill>
                <a:latin typeface="Aptos Display"/>
              </a:rPr>
              <a:t>Rules và đường dẫn file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9FC902-3A35-412E-9D00-D5863789F2FD}"/>
              </a:ext>
            </a:extLst>
          </p:cNvPr>
          <p:cNvSpPr txBox="1"/>
          <p:nvPr/>
        </p:nvSpPr>
        <p:spPr>
          <a:xfrm>
            <a:off x="863600" y="1422400"/>
            <a:ext cx="10541000" cy="1687641"/>
          </a:xfrm>
          <a:prstGeom prst="rect">
            <a:avLst/>
          </a:prstGeom>
          <a:noFill/>
        </p:spPr>
        <p:txBody>
          <a:bodyPr vert="horz" wrap="square" lIns="152400" tIns="101600" rIns="152400" rtlCol="0">
            <a:spAutoFit/>
          </a:bodyPr>
          <a:lstStyle/>
          <a:p>
            <a:r>
              <a:rPr lang="vi-VN" sz="2000">
                <a:solidFill>
                  <a:srgbClr val="232D46"/>
                </a:solidFill>
                <a:latin typeface="Aptos"/>
              </a:rPr>
              <a:t>•  Path: users/{uid}/documents/{documentId}/{fileId}/{fileName}.
•  Chỉ UID đã đăng nhập trùng {uid} được đọc/xóa file.
•  Rules giới hạn 20 MiB và MIME PDF, Office hoặc TXT.
•  MIME do client khai báo không chứng minh nội dung byte thực tế.
•  Deploy: firebase deploy --only storage --project=cashew-study-docs-3afed</a:t>
            </a:r>
            <a:endParaRPr lang="en-US" sz="2000">
              <a:solidFill>
                <a:srgbClr val="232D46"/>
              </a:solidFill>
              <a:latin typeface="Apto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CAD804-7BE5-4A34-BFF0-5AB670886074}"/>
              </a:ext>
            </a:extLst>
          </p:cNvPr>
          <p:cNvSpPr txBox="1"/>
          <p:nvPr/>
        </p:nvSpPr>
        <p:spPr>
          <a:xfrm>
            <a:off x="889000" y="6350000"/>
            <a:ext cx="1054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5F6C84"/>
                </a:solidFill>
              </a:rPr>
              <a:t>Study Document Manager • cashew-study-docs-3afed • 7 / 11</a:t>
            </a:r>
          </a:p>
        </p:txBody>
      </p:sp>
    </p:spTree>
    <p:extLst>
      <p:ext uri="{BB962C8B-B14F-4D97-AF65-F5344CB8AC3E}">
        <p14:creationId xmlns:p14="http://schemas.microsoft.com/office/powerpoint/2010/main" val="26819112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3B8E83D-6D5B-47E2-AA69-6B948F5272CE}"/>
              </a:ext>
            </a:extLst>
          </p:cNvPr>
          <p:cNvSpPr/>
          <p:nvPr/>
        </p:nvSpPr>
        <p:spPr>
          <a:xfrm>
            <a:off x="0" y="0"/>
            <a:ext cx="12192000" cy="1092200"/>
          </a:xfrm>
          <a:prstGeom prst="rect">
            <a:avLst/>
          </a:prstGeom>
          <a:solidFill>
            <a:srgbClr val="141F3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A65225-ED89-461C-B7F2-ABF064661BCC}"/>
              </a:ext>
            </a:extLst>
          </p:cNvPr>
          <p:cNvSpPr/>
          <p:nvPr/>
        </p:nvSpPr>
        <p:spPr>
          <a:xfrm>
            <a:off x="0" y="1066800"/>
            <a:ext cx="12192000" cy="63500"/>
          </a:xfrm>
          <a:prstGeom prst="rect">
            <a:avLst/>
          </a:prstGeom>
          <a:solidFill>
            <a:srgbClr val="3CD1B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EE41D5-45F8-4867-BA39-30CBDFFC818B}"/>
              </a:ext>
            </a:extLst>
          </p:cNvPr>
          <p:cNvSpPr txBox="1"/>
          <p:nvPr/>
        </p:nvSpPr>
        <p:spPr>
          <a:xfrm>
            <a:off x="609600" y="228600"/>
            <a:ext cx="10922000" cy="5078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700" b="1">
                <a:solidFill>
                  <a:srgbClr val="FFFFFF"/>
                </a:solidFill>
                <a:latin typeface="Aptos Display"/>
              </a:rPr>
              <a:t>Luồng upload, mở, xóa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F86300-E06E-4284-996A-BBC48A7E0B22}"/>
              </a:ext>
            </a:extLst>
          </p:cNvPr>
          <p:cNvSpPr txBox="1"/>
          <p:nvPr/>
        </p:nvSpPr>
        <p:spPr>
          <a:xfrm>
            <a:off x="863600" y="1422400"/>
            <a:ext cx="10541000" cy="1687641"/>
          </a:xfrm>
          <a:prstGeom prst="rect">
            <a:avLst/>
          </a:prstGeom>
          <a:noFill/>
        </p:spPr>
        <p:txBody>
          <a:bodyPr vert="horz" wrap="square" lIns="152400" tIns="101600" rIns="152400" rtlCol="0">
            <a:spAutoFit/>
          </a:bodyPr>
          <a:lstStyle/>
          <a:p>
            <a:r>
              <a:rPr lang="vi-VN" sz="2000">
                <a:solidFill>
                  <a:srgbClr val="232D46"/>
                </a:solidFill>
                <a:latin typeface="Aptos"/>
              </a:rPr>
              <a:t>•  1. Đăng nhập Google; Firebase Auth cung cấp UID.
•  2. Chọn file; app kiểm tra đăng nhập, định dạng và 20 MiB.
•  3. Tải bytes trực tiếp lên Storage; UI hiển thị progress.
•  4. Lưu storage_path cùng metadata trong SQLite local.
•  5. Mở qua Download URL; xóa object Cloud trước metadata SQLite.</a:t>
            </a:r>
            <a:endParaRPr lang="en-US" sz="2000">
              <a:solidFill>
                <a:srgbClr val="232D46"/>
              </a:solidFill>
              <a:latin typeface="Apto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71939C-7373-480F-8ABD-4CCAA80B4F42}"/>
              </a:ext>
            </a:extLst>
          </p:cNvPr>
          <p:cNvSpPr txBox="1"/>
          <p:nvPr/>
        </p:nvSpPr>
        <p:spPr>
          <a:xfrm>
            <a:off x="889000" y="6350000"/>
            <a:ext cx="1054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5F6C84"/>
                </a:solidFill>
              </a:rPr>
              <a:t>Study Document Manager • cashew-study-docs-3afed • 8 / 11</a:t>
            </a:r>
          </a:p>
        </p:txBody>
      </p:sp>
    </p:spTree>
    <p:extLst>
      <p:ext uri="{BB962C8B-B14F-4D97-AF65-F5344CB8AC3E}">
        <p14:creationId xmlns:p14="http://schemas.microsoft.com/office/powerpoint/2010/main" val="3351131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3FC2A0A-CFBB-4843-B577-EF1350132382}"/>
              </a:ext>
            </a:extLst>
          </p:cNvPr>
          <p:cNvSpPr/>
          <p:nvPr/>
        </p:nvSpPr>
        <p:spPr>
          <a:xfrm>
            <a:off x="0" y="0"/>
            <a:ext cx="12192000" cy="1092200"/>
          </a:xfrm>
          <a:prstGeom prst="rect">
            <a:avLst/>
          </a:prstGeom>
          <a:solidFill>
            <a:srgbClr val="141F3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250D79-987F-4D8C-AD0D-B1D1BD60AD7A}"/>
              </a:ext>
            </a:extLst>
          </p:cNvPr>
          <p:cNvSpPr/>
          <p:nvPr/>
        </p:nvSpPr>
        <p:spPr>
          <a:xfrm>
            <a:off x="0" y="1066800"/>
            <a:ext cx="12192000" cy="63500"/>
          </a:xfrm>
          <a:prstGeom prst="rect">
            <a:avLst/>
          </a:prstGeom>
          <a:solidFill>
            <a:srgbClr val="3CD1B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0A70BA-302A-4DD8-9E66-7ED6381E376E}"/>
              </a:ext>
            </a:extLst>
          </p:cNvPr>
          <p:cNvSpPr txBox="1"/>
          <p:nvPr/>
        </p:nvSpPr>
        <p:spPr>
          <a:xfrm>
            <a:off x="609600" y="228600"/>
            <a:ext cx="10922000" cy="5078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700" b="1">
                <a:solidFill>
                  <a:srgbClr val="FFFFFF"/>
                </a:solidFill>
                <a:latin typeface="Aptos Display"/>
              </a:rPr>
              <a:t>Bảo mật, chi phí, hiệu suất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69DF94-C43D-4A2D-9498-841288684B06}"/>
              </a:ext>
            </a:extLst>
          </p:cNvPr>
          <p:cNvSpPr txBox="1"/>
          <p:nvPr/>
        </p:nvSpPr>
        <p:spPr>
          <a:xfrm>
            <a:off x="863600" y="1422400"/>
            <a:ext cx="10541000" cy="1687641"/>
          </a:xfrm>
          <a:prstGeom prst="rect">
            <a:avLst/>
          </a:prstGeom>
          <a:noFill/>
        </p:spPr>
        <p:txBody>
          <a:bodyPr vert="horz" wrap="square" lIns="152400" tIns="101600" rIns="152400" rtlCol="0">
            <a:spAutoFit/>
          </a:bodyPr>
          <a:lstStyle/>
          <a:p>
            <a:r>
              <a:rPr lang="vi-VN" sz="2000">
                <a:solidFill>
                  <a:srgbClr val="232D46"/>
                </a:solidFill>
                <a:latin typeface="Aptos"/>
              </a:rPr>
              <a:t>•  Rules giới hạn theo UID; Download URL có token là bearer link, không chia sẻ.
•  Firestore nếu thêm sau cần Security Rules riêng; Storage Rules không bảo vệ Firestore.
•  Upload trực tiếp tới Storage; thao tác file cần mạng.
•  Metadata vẫn SQLite local, chưa đồng bộ đa thiết bị.
•  Theo dõi usage; không thể ước tính chi phí khi chưa biết workload.</a:t>
            </a:r>
            <a:endParaRPr lang="en-US" sz="2000">
              <a:solidFill>
                <a:srgbClr val="232D46"/>
              </a:solidFill>
              <a:latin typeface="Apto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BCACEC-4B6F-4F3F-BCF9-EA145EBAB599}"/>
              </a:ext>
            </a:extLst>
          </p:cNvPr>
          <p:cNvSpPr txBox="1"/>
          <p:nvPr/>
        </p:nvSpPr>
        <p:spPr>
          <a:xfrm>
            <a:off x="889000" y="6350000"/>
            <a:ext cx="1054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5F6C84"/>
                </a:solidFill>
              </a:rPr>
              <a:t>Study Document Manager • cashew-study-docs-3afed • 9 / 11</a:t>
            </a:r>
          </a:p>
        </p:txBody>
      </p:sp>
    </p:spTree>
    <p:extLst>
      <p:ext uri="{BB962C8B-B14F-4D97-AF65-F5344CB8AC3E}">
        <p14:creationId xmlns:p14="http://schemas.microsoft.com/office/powerpoint/2010/main" val="27693569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0B9BDFC-E1F3-40EF-B525-D3ACCF9A5FB6}"/>
              </a:ext>
            </a:extLst>
          </p:cNvPr>
          <p:cNvSpPr/>
          <p:nvPr/>
        </p:nvSpPr>
        <p:spPr>
          <a:xfrm>
            <a:off x="0" y="0"/>
            <a:ext cx="12192000" cy="1092200"/>
          </a:xfrm>
          <a:prstGeom prst="rect">
            <a:avLst/>
          </a:prstGeom>
          <a:solidFill>
            <a:srgbClr val="141F3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7A92EDC-1556-4A43-AD99-380E235AAFD9}"/>
              </a:ext>
            </a:extLst>
          </p:cNvPr>
          <p:cNvSpPr/>
          <p:nvPr/>
        </p:nvSpPr>
        <p:spPr>
          <a:xfrm>
            <a:off x="0" y="1066800"/>
            <a:ext cx="12192000" cy="63500"/>
          </a:xfrm>
          <a:prstGeom prst="rect">
            <a:avLst/>
          </a:prstGeom>
          <a:solidFill>
            <a:srgbClr val="3CD1B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F64B98-6207-406E-BB1C-3F7FE4CBF449}"/>
              </a:ext>
            </a:extLst>
          </p:cNvPr>
          <p:cNvSpPr txBox="1"/>
          <p:nvPr/>
        </p:nvSpPr>
        <p:spPr>
          <a:xfrm>
            <a:off x="609600" y="228600"/>
            <a:ext cx="10922000" cy="5078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700" b="1">
                <a:solidFill>
                  <a:srgbClr val="FFFFFF"/>
                </a:solidFill>
                <a:latin typeface="Aptos Display"/>
              </a:rPr>
              <a:t>Demo và tiêu chí hoàn tất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DE841A-FBC0-4DDD-BFA5-22EBECFD41CD}"/>
              </a:ext>
            </a:extLst>
          </p:cNvPr>
          <p:cNvSpPr txBox="1"/>
          <p:nvPr/>
        </p:nvSpPr>
        <p:spPr>
          <a:xfrm>
            <a:off x="863600" y="1422400"/>
            <a:ext cx="10541000" cy="1687641"/>
          </a:xfrm>
          <a:prstGeom prst="rect">
            <a:avLst/>
          </a:prstGeom>
          <a:noFill/>
        </p:spPr>
        <p:txBody>
          <a:bodyPr vert="horz" wrap="square" lIns="152400" tIns="101600" rIns="152400" rtlCol="0">
            <a:spAutoFit/>
          </a:bodyPr>
          <a:lstStyle/>
          <a:p>
            <a:r>
              <a:rPr lang="vi-VN" sz="2000">
                <a:solidFill>
                  <a:srgbClr val="232D46"/>
                </a:solidFill>
                <a:latin typeface="Aptos"/>
              </a:rPr>
              <a:t>•  Đăng nhập Google; upload PDF nhỏ hơn 20 MiB.
•  Kiểm tra object đúng UID trong Firebase Console và mở file trong app.
•  Thử UID khác: không đọc/xóa được; thử sai loại và file quá lớn.
•  Xóa tài liệu; xác nhận Storage object và SQLite metadata được xử lý.
•  Chỉ đánh dấu hoàn tất sau khi provider, bucket và Rules hoạt động trên Console.</a:t>
            </a:r>
            <a:endParaRPr lang="en-US" sz="2000">
              <a:solidFill>
                <a:srgbClr val="232D46"/>
              </a:solidFill>
              <a:latin typeface="Apto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2377B1-275A-4A31-BD07-7ED278E1FE2E}"/>
              </a:ext>
            </a:extLst>
          </p:cNvPr>
          <p:cNvSpPr txBox="1"/>
          <p:nvPr/>
        </p:nvSpPr>
        <p:spPr>
          <a:xfrm>
            <a:off x="889000" y="6350000"/>
            <a:ext cx="1054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5F6C84"/>
                </a:solidFill>
              </a:rPr>
              <a:t>Study Document Manager • cashew-study-docs-3afed • 10 / 11</a:t>
            </a:r>
          </a:p>
        </p:txBody>
      </p:sp>
    </p:spTree>
    <p:extLst>
      <p:ext uri="{BB962C8B-B14F-4D97-AF65-F5344CB8AC3E}">
        <p14:creationId xmlns:p14="http://schemas.microsoft.com/office/powerpoint/2010/main" val="30105880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CACD1D1-2BDB-4284-B3B8-90601FA181F5}"/>
              </a:ext>
            </a:extLst>
          </p:cNvPr>
          <p:cNvSpPr/>
          <p:nvPr/>
        </p:nvSpPr>
        <p:spPr>
          <a:xfrm>
            <a:off x="0" y="0"/>
            <a:ext cx="12192000" cy="1092200"/>
          </a:xfrm>
          <a:prstGeom prst="rect">
            <a:avLst/>
          </a:prstGeom>
          <a:solidFill>
            <a:srgbClr val="141F3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433C349-01DB-4A2F-9439-ED11E4486D46}"/>
              </a:ext>
            </a:extLst>
          </p:cNvPr>
          <p:cNvSpPr/>
          <p:nvPr/>
        </p:nvSpPr>
        <p:spPr>
          <a:xfrm>
            <a:off x="0" y="1066800"/>
            <a:ext cx="12192000" cy="63500"/>
          </a:xfrm>
          <a:prstGeom prst="rect">
            <a:avLst/>
          </a:prstGeom>
          <a:solidFill>
            <a:srgbClr val="3CD1B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0FBA1F-DAD4-418C-AFF2-76A4541D714C}"/>
              </a:ext>
            </a:extLst>
          </p:cNvPr>
          <p:cNvSpPr txBox="1"/>
          <p:nvPr/>
        </p:nvSpPr>
        <p:spPr>
          <a:xfrm>
            <a:off x="609600" y="228600"/>
            <a:ext cx="10922000" cy="5078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700" b="1">
                <a:solidFill>
                  <a:srgbClr val="FFFFFF"/>
                </a:solidFill>
                <a:latin typeface="Aptos Display"/>
              </a:rPr>
              <a:t>Kết luận &amp; tài liệu tham khảo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52335B-E2B8-4D30-827F-44B56301B688}"/>
              </a:ext>
            </a:extLst>
          </p:cNvPr>
          <p:cNvSpPr txBox="1"/>
          <p:nvPr/>
        </p:nvSpPr>
        <p:spPr>
          <a:xfrm>
            <a:off x="863600" y="1422400"/>
            <a:ext cx="10541000" cy="1810752"/>
          </a:xfrm>
          <a:prstGeom prst="rect">
            <a:avLst/>
          </a:prstGeom>
          <a:noFill/>
        </p:spPr>
        <p:txBody>
          <a:bodyPr vert="horz" wrap="square" lIns="152400" tIns="101600" rIns="152400" rtlCol="0">
            <a:spAutoFit/>
          </a:bodyPr>
          <a:lstStyle/>
          <a:p>
            <a:r>
              <a:rPr lang="en-US">
                <a:solidFill>
                  <a:srgbClr val="232D46"/>
                </a:solidFill>
                <a:latin typeface="Aptos"/>
              </a:rPr>
              <a:t>•  Prototype: Google Sign-In + Firebase Storage; metadata còn ở SQLite local.
•  Mô hình Hybrid: Flutter/SQLite local + dịch vụ Public Cloud Firebase.
•  Đa thiết bị cần thiết kế Firestore, Rules, migration và xử lý xung đột.
•  firebase.google.com/docs/flutter/setup
•  firebase.google.com/docs/auth  •  firebase.google.com/docs/storage  •  firebase.google.com/docs/rules
•  Nhóm: [Điền tên nhóm]  |  Câu hỏi?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F5C8EB-AC23-4703-9828-BD1F75BC6FC1}"/>
              </a:ext>
            </a:extLst>
          </p:cNvPr>
          <p:cNvSpPr txBox="1"/>
          <p:nvPr/>
        </p:nvSpPr>
        <p:spPr>
          <a:xfrm>
            <a:off x="889000" y="6350000"/>
            <a:ext cx="1054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5F6C84"/>
                </a:solidFill>
              </a:rPr>
              <a:t>Study Document Manager • cashew-study-docs-3afed • 11 / 11</a:t>
            </a:r>
          </a:p>
        </p:txBody>
      </p:sp>
    </p:spTree>
    <p:extLst>
      <p:ext uri="{BB962C8B-B14F-4D97-AF65-F5344CB8AC3E}">
        <p14:creationId xmlns:p14="http://schemas.microsoft.com/office/powerpoint/2010/main" val="40009589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1017</Words>
  <Application>Microsoft Office PowerPoint</Application>
  <PresentationFormat>Custom</PresentationFormat>
  <Paragraphs>33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NGUYEN VAN TRUONG</dc:creator>
  <cp:lastModifiedBy>NGUYEN VAN TRUONG</cp:lastModifiedBy>
  <cp:revision>1</cp:revision>
  <dcterms:created xsi:type="dcterms:W3CDTF">2026-10-09T14:37:15Z</dcterms:created>
  <dcterms:modified xsi:type="dcterms:W3CDTF">2026-10-09T14:37:15Z</dcterms:modified>
</cp:coreProperties>
</file>